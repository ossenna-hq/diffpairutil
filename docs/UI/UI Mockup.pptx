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>
        <p:scale>
          <a:sx n="150" d="100"/>
          <a:sy n="150" d="100"/>
        </p:scale>
        <p:origin x="5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00898-FC15-3587-5DF5-06C28B9C38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385014-31B6-F622-9026-A2E21987DD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49EF3-5B62-DA5F-336E-44D93DFC8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04969-D56E-4A28-AD6B-BD50DF0B7EB2}" type="datetimeFigureOut">
              <a:rPr lang="en-AU" smtClean="0"/>
              <a:t>24/06/2026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39A22A-5F33-A984-698B-08C7AF1AD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CE40CC-FC64-E05A-724B-D89C400A5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BE7E8-11E8-4C68-96D3-52A7572FA26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2854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769E7-C45D-146F-CDFD-EF4B0DA66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9A822-0A6A-AEF2-0BF6-6D8E2F4A7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27867F-F96C-C641-05EC-6363288D0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04969-D56E-4A28-AD6B-BD50DF0B7EB2}" type="datetimeFigureOut">
              <a:rPr lang="en-AU" smtClean="0"/>
              <a:t>24/06/2026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1BFE7-638F-ED53-C5E3-5B76F4C72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814113-6612-0295-BB43-E39BB8344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BE7E8-11E8-4C68-96D3-52A7572FA26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83260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72F82-7BB7-C30E-E384-247429BEE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902822-34F9-151F-5C95-2BE1D0D81F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9F2545-403F-1011-F383-239F3C6EE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04969-D56E-4A28-AD6B-BD50DF0B7EB2}" type="datetimeFigureOut">
              <a:rPr lang="en-AU" smtClean="0"/>
              <a:t>24/06/2026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A1FECD-6469-3F12-839D-BC3AC46F0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D7B646-02F5-AE33-0A86-E34611A39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BE7E8-11E8-4C68-96D3-52A7572FA26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2409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87E80-17F0-A1FA-360C-908FF7481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667D1-A970-13CE-A3B0-10C870BFF4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83D5FA-15FC-C3DD-8DA6-FACA602F96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095C89-B656-A68B-DB06-33B921004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04969-D56E-4A28-AD6B-BD50DF0B7EB2}" type="datetimeFigureOut">
              <a:rPr lang="en-AU" smtClean="0"/>
              <a:t>24/06/2026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B808E3-6768-D439-79E0-313141ABA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CA3290-661D-EF97-03B1-4B943CF52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BE7E8-11E8-4C68-96D3-52A7572FA26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3070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2AAAA-F680-29E5-D394-597929E98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F6B4D3-65D7-BA13-C5CE-2EA6541B1C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F6CC22-2E3E-0F4D-12CD-EA5DB7C624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9E82DC-108C-D7F2-BD32-55315F551A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3623D4-8668-4BDE-E31C-327C0019CE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381B17-849C-2421-7D8C-D555E5465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04969-D56E-4A28-AD6B-BD50DF0B7EB2}" type="datetimeFigureOut">
              <a:rPr lang="en-AU" smtClean="0"/>
              <a:t>24/06/2026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37DF8F-2FED-274B-617A-0C9AA688A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D81F43-8755-B6F7-89EA-DA8B8ACFE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BE7E8-11E8-4C68-96D3-52A7572FA26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7869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B9563-0D68-9C32-31E2-2FBF75417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20E192-80BA-54A8-14BF-D81C4D2C5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04969-D56E-4A28-AD6B-BD50DF0B7EB2}" type="datetimeFigureOut">
              <a:rPr lang="en-AU" smtClean="0"/>
              <a:t>24/06/2026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622FB3-4B77-2F56-645D-F5BDF4EAB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D319C8-9B71-1749-A3CE-D246EADC5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BE7E8-11E8-4C68-96D3-52A7572FA26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0904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3B682A-2C47-B5B4-F33C-EAC800C3B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04969-D56E-4A28-AD6B-BD50DF0B7EB2}" type="datetimeFigureOut">
              <a:rPr lang="en-AU" smtClean="0"/>
              <a:t>24/06/2026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AFECD7-612E-A6D1-C907-9D3DDAEBB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A6A5B-7FBE-DEB8-94F8-821F5AF45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BE7E8-11E8-4C68-96D3-52A7572FA26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8521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D2A2B-786A-FA9D-0E08-C94976294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EA625-0562-786B-FAB6-3E17D9B4EC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C48A6C-6EC1-0A76-7CD3-9C6408B1D5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4121C2-4A28-EC12-1A06-556B249EB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04969-D56E-4A28-AD6B-BD50DF0B7EB2}" type="datetimeFigureOut">
              <a:rPr lang="en-AU" smtClean="0"/>
              <a:t>24/06/2026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6EE3F-ABA4-3276-07FE-4D631D606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0BC363-9436-FCCD-170D-3C1054775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BE7E8-11E8-4C68-96D3-52A7572FA26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00663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D01E9-98D5-4645-0620-94951318D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C7C0F6-EF4C-DFC3-ACDA-180302CC9F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077B10-252B-7AFD-8B62-FE700B4E87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A26538-F364-3E75-4144-273FE6B9A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04969-D56E-4A28-AD6B-BD50DF0B7EB2}" type="datetimeFigureOut">
              <a:rPr lang="en-AU" smtClean="0"/>
              <a:t>24/06/2026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60371D-DD64-8468-DFAF-02205C78B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3EF610-32C5-CF7C-D8D9-C7343D27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BE7E8-11E8-4C68-96D3-52A7572FA26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7525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BB050-E9C9-FB04-F649-18706E790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C699B4-BA7C-D32C-B084-B773BF39C3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6AF0A-077F-7972-3A8C-6497F5729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04969-D56E-4A28-AD6B-BD50DF0B7EB2}" type="datetimeFigureOut">
              <a:rPr lang="en-AU" smtClean="0"/>
              <a:t>24/06/2026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B624D5-23F8-4A38-3BDB-13922600C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71358-DAC7-AE62-B8FD-371574640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BE7E8-11E8-4C68-96D3-52A7572FA26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2179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84F5DB-CD93-0E78-7B76-C597973488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CAF681-E084-E266-5ED7-A6D3178D04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C376E-AB2B-20F2-9BA0-D45863BE2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04969-D56E-4A28-AD6B-BD50DF0B7EB2}" type="datetimeFigureOut">
              <a:rPr lang="en-AU" smtClean="0"/>
              <a:t>24/06/2026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717E8F-B9F1-85A5-20C8-08CD34668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A560E-758C-BF51-BE37-17FC7DB6F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BE7E8-11E8-4C68-96D3-52A7572FA26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2053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756F99-9A09-3760-505A-B8BE70CF7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D31E07-B274-4B37-293E-0C0712E0A8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9762A-621F-85A8-91CA-93DBCAF46C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D04969-D56E-4A28-AD6B-BD50DF0B7EB2}" type="datetimeFigureOut">
              <a:rPr lang="en-AU" smtClean="0"/>
              <a:t>24/06/2026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A600E-6730-FA70-A1A3-7DB64A54C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ACFAD2-1536-3012-7ABD-9FCB935FCF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3BE7E8-11E8-4C68-96D3-52A7572FA26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656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3F9F868-FCC6-06D4-D441-E5D974077DFE}"/>
              </a:ext>
            </a:extLst>
          </p:cNvPr>
          <p:cNvSpPr txBox="1"/>
          <p:nvPr/>
        </p:nvSpPr>
        <p:spPr>
          <a:xfrm>
            <a:off x="816877" y="924833"/>
            <a:ext cx="95534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b="1" dirty="0">
                <a:solidFill>
                  <a:srgbClr val="26342F"/>
                </a:solidFill>
                <a:latin typeface="Inter"/>
              </a:rPr>
              <a:t>T</a:t>
            </a:r>
            <a:r>
              <a:rPr lang="en-AU" sz="1400" b="1" i="0" dirty="0">
                <a:solidFill>
                  <a:srgbClr val="26342F"/>
                </a:solidFill>
                <a:effectLst/>
                <a:latin typeface="Inter"/>
              </a:rPr>
              <a:t>arget:</a:t>
            </a:r>
            <a:endParaRPr lang="en-AU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1F5320-AB7E-E72D-9F15-70B6F4512844}"/>
              </a:ext>
            </a:extLst>
          </p:cNvPr>
          <p:cNvSpPr txBox="1"/>
          <p:nvPr/>
        </p:nvSpPr>
        <p:spPr>
          <a:xfrm>
            <a:off x="816877" y="1169840"/>
            <a:ext cx="10799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200" b="1" i="0" dirty="0">
                <a:solidFill>
                  <a:srgbClr val="26342F"/>
                </a:solidFill>
                <a:effectLst/>
                <a:latin typeface="Inter"/>
              </a:rPr>
              <a:t>Single-ended</a:t>
            </a:r>
            <a:endParaRPr lang="en-AU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7921146-E43D-728B-9F36-54C643D0D5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0794"/>
          <a:stretch>
            <a:fillRect/>
          </a:stretch>
        </p:blipFill>
        <p:spPr>
          <a:xfrm>
            <a:off x="1772226" y="1060655"/>
            <a:ext cx="490341" cy="49536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47DA6B5-BE34-62FA-5A24-FF786870A4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9721" r="1073"/>
          <a:stretch>
            <a:fillRect/>
          </a:stretch>
        </p:blipFill>
        <p:spPr>
          <a:xfrm>
            <a:off x="2237234" y="1060654"/>
            <a:ext cx="490341" cy="4953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1647E1A-553F-9233-1912-C6D7AC811A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1623" y="1194022"/>
            <a:ext cx="228632" cy="22863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DC9F471-D34B-D097-E32B-C135A734F50F}"/>
              </a:ext>
            </a:extLst>
          </p:cNvPr>
          <p:cNvSpPr txBox="1"/>
          <p:nvPr/>
        </p:nvSpPr>
        <p:spPr>
          <a:xfrm>
            <a:off x="3067957" y="1171127"/>
            <a:ext cx="10799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200" b="1" i="0" dirty="0">
                <a:solidFill>
                  <a:srgbClr val="26342F"/>
                </a:solidFill>
                <a:effectLst/>
                <a:latin typeface="Inter"/>
              </a:rPr>
              <a:t>Differential</a:t>
            </a:r>
            <a:endParaRPr lang="en-AU" sz="12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ED65D69-1CD1-50FF-855D-38208FF102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0794"/>
          <a:stretch>
            <a:fillRect/>
          </a:stretch>
        </p:blipFill>
        <p:spPr>
          <a:xfrm>
            <a:off x="3902761" y="1060655"/>
            <a:ext cx="490341" cy="49536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F56E825-2151-67C2-C274-C169E9A3F0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9721" r="1073"/>
          <a:stretch>
            <a:fillRect/>
          </a:stretch>
        </p:blipFill>
        <p:spPr>
          <a:xfrm>
            <a:off x="4367769" y="1060654"/>
            <a:ext cx="490341" cy="49536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D439054-76D3-0125-9FC7-0016E578D577}"/>
              </a:ext>
            </a:extLst>
          </p:cNvPr>
          <p:cNvSpPr txBox="1"/>
          <p:nvPr/>
        </p:nvSpPr>
        <p:spPr>
          <a:xfrm>
            <a:off x="3985059" y="1177836"/>
            <a:ext cx="485686" cy="27699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AU" sz="1200" b="1" dirty="0"/>
              <a:t>90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6CDF47F-F872-4C6E-C7E4-5331AE04F4EE}"/>
              </a:ext>
            </a:extLst>
          </p:cNvPr>
          <p:cNvSpPr/>
          <p:nvPr/>
        </p:nvSpPr>
        <p:spPr>
          <a:xfrm>
            <a:off x="840020" y="931542"/>
            <a:ext cx="7503921" cy="641408"/>
          </a:xfrm>
          <a:prstGeom prst="roundRect">
            <a:avLst>
              <a:gd name="adj" fmla="val 5104"/>
            </a:avLst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45F8F05-CA91-464E-338C-A5427FE11A71}"/>
              </a:ext>
            </a:extLst>
          </p:cNvPr>
          <p:cNvGrpSpPr/>
          <p:nvPr/>
        </p:nvGrpSpPr>
        <p:grpSpPr>
          <a:xfrm>
            <a:off x="846255" y="1897001"/>
            <a:ext cx="2278140" cy="2892751"/>
            <a:chOff x="896623" y="1760434"/>
            <a:chExt cx="2278140" cy="2892751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343510F6-16F1-4A1F-733C-CD29C16F6FEF}"/>
                </a:ext>
              </a:extLst>
            </p:cNvPr>
            <p:cNvSpPr/>
            <p:nvPr/>
          </p:nvSpPr>
          <p:spPr>
            <a:xfrm>
              <a:off x="897308" y="1760434"/>
              <a:ext cx="2277455" cy="2892751"/>
            </a:xfrm>
            <a:prstGeom prst="roundRect">
              <a:avLst>
                <a:gd name="adj" fmla="val 2477"/>
              </a:avLst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1C83718-5BFE-F46E-6096-90B8D5F32E8E}"/>
                </a:ext>
              </a:extLst>
            </p:cNvPr>
            <p:cNvSpPr txBox="1"/>
            <p:nvPr/>
          </p:nvSpPr>
          <p:spPr>
            <a:xfrm>
              <a:off x="914757" y="1850800"/>
              <a:ext cx="133706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AU" sz="1200" b="1" i="0" dirty="0">
                  <a:solidFill>
                    <a:srgbClr val="26342F"/>
                  </a:solidFill>
                  <a:effectLst/>
                  <a:latin typeface="Inter"/>
                </a:rPr>
                <a:t>Signal:</a:t>
              </a:r>
              <a:endParaRPr lang="en-AU" sz="1200" dirty="0"/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41241A38-1481-38DA-5B04-41430877B2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92607" y="1791124"/>
              <a:ext cx="1560737" cy="345296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19FF811-4ABC-3CB1-CBBE-CD7BAEBCEB1C}"/>
                </a:ext>
              </a:extLst>
            </p:cNvPr>
            <p:cNvSpPr txBox="1"/>
            <p:nvPr/>
          </p:nvSpPr>
          <p:spPr>
            <a:xfrm>
              <a:off x="896623" y="2223734"/>
              <a:ext cx="133706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AU" sz="1200" b="1" i="0" dirty="0">
                  <a:solidFill>
                    <a:srgbClr val="26342F"/>
                  </a:solidFill>
                  <a:effectLst/>
                  <a:latin typeface="Inter"/>
                </a:rPr>
                <a:t>Dielectric:</a:t>
              </a:r>
              <a:endParaRPr lang="en-AU" sz="1200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45BA0B2-7C57-766B-7F32-AB2750802F3E}"/>
                </a:ext>
              </a:extLst>
            </p:cNvPr>
            <p:cNvSpPr txBox="1"/>
            <p:nvPr/>
          </p:nvSpPr>
          <p:spPr>
            <a:xfrm>
              <a:off x="1384202" y="2517660"/>
              <a:ext cx="42588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AU" sz="1200" b="1" i="0" dirty="0">
                  <a:solidFill>
                    <a:srgbClr val="26342F"/>
                  </a:solidFill>
                  <a:effectLst/>
                  <a:latin typeface="Inter"/>
                </a:rPr>
                <a:t>Dk:</a:t>
              </a:r>
              <a:endParaRPr lang="en-AU" sz="1200" dirty="0"/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308AF1E6-9EEC-33D3-F736-46D6B6598B3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17418" y="2435865"/>
              <a:ext cx="971686" cy="390580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DF0AA732-1834-D69F-5285-FA8824E2542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705652" y="2207161"/>
              <a:ext cx="333422" cy="1886213"/>
            </a:xfrm>
            <a:prstGeom prst="rect">
              <a:avLst/>
            </a:prstGeom>
          </p:spPr>
        </p:pic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1DCAAD7A-0037-A552-790F-5AFF5A950711}"/>
                </a:ext>
              </a:extLst>
            </p:cNvPr>
            <p:cNvGrpSpPr/>
            <p:nvPr/>
          </p:nvGrpSpPr>
          <p:grpSpPr>
            <a:xfrm>
              <a:off x="1327981" y="2941923"/>
              <a:ext cx="1325576" cy="495369"/>
              <a:chOff x="4283634" y="2998993"/>
              <a:chExt cx="1325576" cy="495369"/>
            </a:xfrm>
          </p:grpSpPr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0E86BFA3-56A0-CE94-E2DD-33667BF16674}"/>
                  </a:ext>
                </a:extLst>
              </p:cNvPr>
              <p:cNvGrpSpPr/>
              <p:nvPr/>
            </p:nvGrpSpPr>
            <p:grpSpPr>
              <a:xfrm>
                <a:off x="4283634" y="2998993"/>
                <a:ext cx="1325576" cy="495369"/>
                <a:chOff x="4283634" y="2998993"/>
                <a:chExt cx="1325576" cy="495369"/>
              </a:xfrm>
            </p:grpSpPr>
            <p:pic>
              <p:nvPicPr>
                <p:cNvPr id="34" name="Picture 33">
                  <a:extLst>
                    <a:ext uri="{FF2B5EF4-FFF2-40B4-BE49-F238E27FC236}">
                      <a16:creationId xmlns:a16="http://schemas.microsoft.com/office/drawing/2014/main" id="{35538D9B-D150-7EDB-C2FD-EFF6EE9599A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rcRect r="80794"/>
                <a:stretch>
                  <a:fillRect/>
                </a:stretch>
              </p:blipFill>
              <p:spPr>
                <a:xfrm>
                  <a:off x="4283634" y="2998993"/>
                  <a:ext cx="490341" cy="495369"/>
                </a:xfrm>
                <a:prstGeom prst="rect">
                  <a:avLst/>
                </a:prstGeom>
              </p:spPr>
            </p:pic>
            <p:pic>
              <p:nvPicPr>
                <p:cNvPr id="35" name="Picture 34">
                  <a:extLst>
                    <a:ext uri="{FF2B5EF4-FFF2-40B4-BE49-F238E27FC236}">
                      <a16:creationId xmlns:a16="http://schemas.microsoft.com/office/drawing/2014/main" id="{1018A418-0154-C094-F35F-7E72AE4A4B8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rcRect l="66213" r="1072"/>
                <a:stretch>
                  <a:fillRect/>
                </a:stretch>
              </p:blipFill>
              <p:spPr>
                <a:xfrm>
                  <a:off x="4773975" y="2998993"/>
                  <a:ext cx="835235" cy="495369"/>
                </a:xfrm>
                <a:prstGeom prst="rect">
                  <a:avLst/>
                </a:prstGeom>
              </p:spPr>
            </p:pic>
          </p:grp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F736DED-B4BA-210E-7066-95E39D98B44A}"/>
                  </a:ext>
                </a:extLst>
              </p:cNvPr>
              <p:cNvSpPr txBox="1"/>
              <p:nvPr/>
            </p:nvSpPr>
            <p:spPr>
              <a:xfrm>
                <a:off x="4362873" y="3113544"/>
                <a:ext cx="971686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r>
                  <a:rPr lang="en-AU" sz="1200" b="1" dirty="0"/>
                  <a:t>0.270</a:t>
                </a: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781A96AD-C3BC-6BFB-8C90-D782CF65F05C}"/>
                </a:ext>
              </a:extLst>
            </p:cNvPr>
            <p:cNvGrpSpPr/>
            <p:nvPr/>
          </p:nvGrpSpPr>
          <p:grpSpPr>
            <a:xfrm>
              <a:off x="1325725" y="3415187"/>
              <a:ext cx="1325576" cy="495369"/>
              <a:chOff x="4283634" y="2998993"/>
              <a:chExt cx="1325576" cy="495369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71443D5B-2EE7-169B-DC7B-5FD6B588FD66}"/>
                  </a:ext>
                </a:extLst>
              </p:cNvPr>
              <p:cNvGrpSpPr/>
              <p:nvPr/>
            </p:nvGrpSpPr>
            <p:grpSpPr>
              <a:xfrm>
                <a:off x="4283634" y="2998993"/>
                <a:ext cx="1325576" cy="495369"/>
                <a:chOff x="4283634" y="2998993"/>
                <a:chExt cx="1325576" cy="495369"/>
              </a:xfrm>
            </p:grpSpPr>
            <p:pic>
              <p:nvPicPr>
                <p:cNvPr id="43" name="Picture 42">
                  <a:extLst>
                    <a:ext uri="{FF2B5EF4-FFF2-40B4-BE49-F238E27FC236}">
                      <a16:creationId xmlns:a16="http://schemas.microsoft.com/office/drawing/2014/main" id="{F26C7252-C328-0B51-0619-EE99F424A39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rcRect r="80794"/>
                <a:stretch>
                  <a:fillRect/>
                </a:stretch>
              </p:blipFill>
              <p:spPr>
                <a:xfrm>
                  <a:off x="4283634" y="2998993"/>
                  <a:ext cx="490341" cy="495369"/>
                </a:xfrm>
                <a:prstGeom prst="rect">
                  <a:avLst/>
                </a:prstGeom>
              </p:spPr>
            </p:pic>
            <p:pic>
              <p:nvPicPr>
                <p:cNvPr id="44" name="Picture 43">
                  <a:extLst>
                    <a:ext uri="{FF2B5EF4-FFF2-40B4-BE49-F238E27FC236}">
                      <a16:creationId xmlns:a16="http://schemas.microsoft.com/office/drawing/2014/main" id="{BDCC6214-9140-C589-474C-07044A601CE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rcRect l="66213" r="1072"/>
                <a:stretch>
                  <a:fillRect/>
                </a:stretch>
              </p:blipFill>
              <p:spPr>
                <a:xfrm>
                  <a:off x="4773975" y="2998993"/>
                  <a:ext cx="835235" cy="495369"/>
                </a:xfrm>
                <a:prstGeom prst="rect">
                  <a:avLst/>
                </a:prstGeom>
              </p:spPr>
            </p:pic>
          </p:grp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9EA5BA9-EF47-8570-0E5C-82AAE663055A}"/>
                  </a:ext>
                </a:extLst>
              </p:cNvPr>
              <p:cNvSpPr txBox="1"/>
              <p:nvPr/>
            </p:nvSpPr>
            <p:spPr>
              <a:xfrm>
                <a:off x="4362873" y="3113544"/>
                <a:ext cx="971686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r>
                  <a:rPr lang="en-AU" sz="1200" b="1" dirty="0"/>
                  <a:t>10.6</a:t>
                </a:r>
              </a:p>
            </p:txBody>
          </p: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2EF33B4-0F5F-189C-68C7-527EF9B78BA5}"/>
                </a:ext>
              </a:extLst>
            </p:cNvPr>
            <p:cNvSpPr txBox="1"/>
            <p:nvPr/>
          </p:nvSpPr>
          <p:spPr>
            <a:xfrm>
              <a:off x="914757" y="4223791"/>
              <a:ext cx="133706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AU" sz="1200" b="1" i="0" dirty="0">
                  <a:solidFill>
                    <a:srgbClr val="26342F"/>
                  </a:solidFill>
                  <a:effectLst/>
                  <a:latin typeface="Inter"/>
                </a:rPr>
                <a:t>Plane:</a:t>
              </a:r>
              <a:endParaRPr lang="en-AU" sz="1200" dirty="0"/>
            </a:p>
          </p:txBody>
        </p:sp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634FF707-3A6E-9451-E883-2EE067E355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92607" y="4164115"/>
              <a:ext cx="1560737" cy="345296"/>
            </a:xfrm>
            <a:prstGeom prst="rect">
              <a:avLst/>
            </a:prstGeom>
          </p:spPr>
        </p:pic>
      </p:grpSp>
      <p:pic>
        <p:nvPicPr>
          <p:cNvPr id="49" name="Picture 48">
            <a:extLst>
              <a:ext uri="{FF2B5EF4-FFF2-40B4-BE49-F238E27FC236}">
                <a16:creationId xmlns:a16="http://schemas.microsoft.com/office/drawing/2014/main" id="{9041475B-A8DF-A274-02C5-A481EE7A2C4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17489"/>
          <a:stretch>
            <a:fillRect/>
          </a:stretch>
        </p:blipFill>
        <p:spPr>
          <a:xfrm>
            <a:off x="3245128" y="2001317"/>
            <a:ext cx="5017387" cy="2590263"/>
          </a:xfrm>
          <a:prstGeom prst="rect">
            <a:avLst/>
          </a:prstGeom>
        </p:spPr>
      </p:pic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5A46DBDF-51D5-EB4E-4A56-14F5673A23B4}"/>
              </a:ext>
            </a:extLst>
          </p:cNvPr>
          <p:cNvSpPr/>
          <p:nvPr/>
        </p:nvSpPr>
        <p:spPr>
          <a:xfrm>
            <a:off x="816877" y="1611293"/>
            <a:ext cx="7522550" cy="3235874"/>
          </a:xfrm>
          <a:prstGeom prst="roundRect">
            <a:avLst>
              <a:gd name="adj" fmla="val 2477"/>
            </a:avLst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46F50E3-0C3A-8034-5C45-ED0CB48B4CE6}"/>
              </a:ext>
            </a:extLst>
          </p:cNvPr>
          <p:cNvSpPr txBox="1"/>
          <p:nvPr/>
        </p:nvSpPr>
        <p:spPr>
          <a:xfrm>
            <a:off x="778271" y="1611293"/>
            <a:ext cx="19629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b="1" dirty="0">
                <a:solidFill>
                  <a:srgbClr val="26342F"/>
                </a:solidFill>
                <a:latin typeface="Inter"/>
              </a:rPr>
              <a:t>Cross Section</a:t>
            </a:r>
            <a:r>
              <a:rPr lang="en-AU" sz="1400" b="1" i="0" dirty="0">
                <a:solidFill>
                  <a:srgbClr val="26342F"/>
                </a:solidFill>
                <a:effectLst/>
                <a:latin typeface="Inter"/>
              </a:rPr>
              <a:t>:</a:t>
            </a:r>
            <a:endParaRPr lang="en-AU" sz="14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3486234-3443-36B1-4960-0F6DDF35C2DD}"/>
              </a:ext>
            </a:extLst>
          </p:cNvPr>
          <p:cNvSpPr txBox="1"/>
          <p:nvPr/>
        </p:nvSpPr>
        <p:spPr>
          <a:xfrm>
            <a:off x="816877" y="1326298"/>
            <a:ext cx="107997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000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Inter"/>
              </a:rPr>
              <a:t>ohms</a:t>
            </a:r>
            <a:endParaRPr lang="en-AU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8A66C5E-3AAD-B51F-5A83-07012DED59BD}"/>
              </a:ext>
            </a:extLst>
          </p:cNvPr>
          <p:cNvSpPr txBox="1"/>
          <p:nvPr/>
        </p:nvSpPr>
        <p:spPr>
          <a:xfrm>
            <a:off x="967674" y="3208838"/>
            <a:ext cx="43544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000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Inter"/>
              </a:rPr>
              <a:t>mm</a:t>
            </a:r>
            <a:endParaRPr lang="en-AU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427FEB8-72F4-18B4-BD62-C5F1B31A0526}"/>
              </a:ext>
            </a:extLst>
          </p:cNvPr>
          <p:cNvSpPr txBox="1"/>
          <p:nvPr/>
        </p:nvSpPr>
        <p:spPr>
          <a:xfrm>
            <a:off x="967673" y="3655573"/>
            <a:ext cx="43544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000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Inter"/>
              </a:rPr>
              <a:t>mil</a:t>
            </a:r>
            <a:endParaRPr lang="en-AU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19D0C06F-D18A-D83C-755B-0DDF7587236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87999" y="3006491"/>
            <a:ext cx="4431787" cy="1190624"/>
          </a:xfrm>
          <a:prstGeom prst="rect">
            <a:avLst/>
          </a:prstGeom>
        </p:spPr>
      </p:pic>
      <p:grpSp>
        <p:nvGrpSpPr>
          <p:cNvPr id="81" name="Group 80">
            <a:extLst>
              <a:ext uri="{FF2B5EF4-FFF2-40B4-BE49-F238E27FC236}">
                <a16:creationId xmlns:a16="http://schemas.microsoft.com/office/drawing/2014/main" id="{44F06BC4-1EB7-301B-149F-2CE41CD3E309}"/>
              </a:ext>
            </a:extLst>
          </p:cNvPr>
          <p:cNvGrpSpPr/>
          <p:nvPr/>
        </p:nvGrpSpPr>
        <p:grpSpPr>
          <a:xfrm>
            <a:off x="4058583" y="1823709"/>
            <a:ext cx="932118" cy="456748"/>
            <a:chOff x="3430927" y="5175933"/>
            <a:chExt cx="1010935" cy="495369"/>
          </a:xfrm>
        </p:grpSpPr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B998CCE7-3E51-1725-B813-307DE97B6B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80794"/>
            <a:stretch>
              <a:fillRect/>
            </a:stretch>
          </p:blipFill>
          <p:spPr>
            <a:xfrm>
              <a:off x="3430927" y="5175933"/>
              <a:ext cx="490341" cy="495369"/>
            </a:xfrm>
            <a:prstGeom prst="rect">
              <a:avLst/>
            </a:prstGeom>
          </p:spPr>
        </p:pic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FD0FC7B8-A385-F5C6-9FE8-39460C306A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6973" r="1072"/>
            <a:stretch>
              <a:fillRect/>
            </a:stretch>
          </p:blipFill>
          <p:spPr>
            <a:xfrm>
              <a:off x="3881344" y="5175933"/>
              <a:ext cx="560518" cy="495369"/>
            </a:xfrm>
            <a:prstGeom prst="rect">
              <a:avLst/>
            </a:prstGeom>
          </p:spPr>
        </p:pic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B8C5EDE3-8C95-2987-6095-9E30C367E59C}"/>
                </a:ext>
              </a:extLst>
            </p:cNvPr>
            <p:cNvSpPr txBox="1"/>
            <p:nvPr/>
          </p:nvSpPr>
          <p:spPr>
            <a:xfrm>
              <a:off x="3523054" y="5285117"/>
              <a:ext cx="685750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en-AU" sz="1000" b="1" dirty="0"/>
                <a:t>0.270</a:t>
              </a: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DCA2B471-D4C5-717F-1142-AB2328BB9317}"/>
              </a:ext>
            </a:extLst>
          </p:cNvPr>
          <p:cNvGrpSpPr/>
          <p:nvPr/>
        </p:nvGrpSpPr>
        <p:grpSpPr>
          <a:xfrm>
            <a:off x="4052084" y="2297187"/>
            <a:ext cx="932118" cy="456748"/>
            <a:chOff x="3430927" y="5175933"/>
            <a:chExt cx="1010935" cy="495369"/>
          </a:xfrm>
        </p:grpSpPr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ECE013F9-3C4D-F75F-0199-40DEADD50F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80794"/>
            <a:stretch>
              <a:fillRect/>
            </a:stretch>
          </p:blipFill>
          <p:spPr>
            <a:xfrm>
              <a:off x="3430927" y="5175933"/>
              <a:ext cx="490341" cy="495369"/>
            </a:xfrm>
            <a:prstGeom prst="rect">
              <a:avLst/>
            </a:prstGeom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AF033270-CFAF-8D43-338E-59FB4ED021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6973" r="1072"/>
            <a:stretch>
              <a:fillRect/>
            </a:stretch>
          </p:blipFill>
          <p:spPr>
            <a:xfrm>
              <a:off x="3881344" y="5175933"/>
              <a:ext cx="560518" cy="495369"/>
            </a:xfrm>
            <a:prstGeom prst="rect">
              <a:avLst/>
            </a:prstGeom>
          </p:spPr>
        </p:pic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E3F1E9AE-DE19-CEB6-81A1-B503010E7E66}"/>
                </a:ext>
              </a:extLst>
            </p:cNvPr>
            <p:cNvSpPr txBox="1"/>
            <p:nvPr/>
          </p:nvSpPr>
          <p:spPr>
            <a:xfrm>
              <a:off x="3523054" y="5285117"/>
              <a:ext cx="685750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en-AU" sz="1000" b="1" dirty="0"/>
                <a:t>10.6</a:t>
              </a:r>
            </a:p>
          </p:txBody>
        </p:sp>
      </p:grpSp>
      <p:pic>
        <p:nvPicPr>
          <p:cNvPr id="1026" name="Picture 2" descr="294,732 Icon Lock Button Royalty-Free Images, Stock Photos &amp; Pictures |  Shutterstock">
            <a:extLst>
              <a:ext uri="{FF2B5EF4-FFF2-40B4-BE49-F238E27FC236}">
                <a16:creationId xmlns:a16="http://schemas.microsoft.com/office/drawing/2014/main" id="{93F4A9A1-03CB-34A8-0DA8-7995CC4CE0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35" t="22502" r="29583" b="29994"/>
          <a:stretch>
            <a:fillRect/>
          </a:stretch>
        </p:blipFill>
        <p:spPr bwMode="auto">
          <a:xfrm>
            <a:off x="4792417" y="1616382"/>
            <a:ext cx="162986" cy="200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8" name="Group 87">
            <a:extLst>
              <a:ext uri="{FF2B5EF4-FFF2-40B4-BE49-F238E27FC236}">
                <a16:creationId xmlns:a16="http://schemas.microsoft.com/office/drawing/2014/main" id="{1F3B74AA-B295-71F4-7EB4-B2867DAB9DFF}"/>
              </a:ext>
            </a:extLst>
          </p:cNvPr>
          <p:cNvGrpSpPr/>
          <p:nvPr/>
        </p:nvGrpSpPr>
        <p:grpSpPr>
          <a:xfrm>
            <a:off x="3718930" y="1829512"/>
            <a:ext cx="2195669" cy="451368"/>
            <a:chOff x="2032150" y="5175933"/>
            <a:chExt cx="2409712" cy="495369"/>
          </a:xfrm>
        </p:grpSpPr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7C557915-7B1D-4FF6-E7AA-EDFFF0A870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80794"/>
            <a:stretch>
              <a:fillRect/>
            </a:stretch>
          </p:blipFill>
          <p:spPr>
            <a:xfrm>
              <a:off x="3430927" y="5175933"/>
              <a:ext cx="490341" cy="495369"/>
            </a:xfrm>
            <a:prstGeom prst="rect">
              <a:avLst/>
            </a:prstGeom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4B8EFBA9-8A47-C8CF-FA1F-A7F03B3DEE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6973" r="1072"/>
            <a:stretch>
              <a:fillRect/>
            </a:stretch>
          </p:blipFill>
          <p:spPr>
            <a:xfrm>
              <a:off x="3881344" y="5175933"/>
              <a:ext cx="560518" cy="495369"/>
            </a:xfrm>
            <a:prstGeom prst="rect">
              <a:avLst/>
            </a:prstGeom>
          </p:spPr>
        </p:pic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86A7BCD4-9B99-D8CA-17E4-D739B6986231}"/>
                </a:ext>
              </a:extLst>
            </p:cNvPr>
            <p:cNvSpPr txBox="1"/>
            <p:nvPr/>
          </p:nvSpPr>
          <p:spPr>
            <a:xfrm>
              <a:off x="3523054" y="5285117"/>
              <a:ext cx="685750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en-AU" sz="1050" b="1" dirty="0"/>
                <a:t>0.270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20A09DDF-9FB6-7ACE-5035-E95CF8B183B6}"/>
                </a:ext>
              </a:extLst>
            </p:cNvPr>
            <p:cNvSpPr txBox="1"/>
            <p:nvPr/>
          </p:nvSpPr>
          <p:spPr>
            <a:xfrm>
              <a:off x="2032150" y="5342873"/>
              <a:ext cx="435449" cy="246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AU" sz="1000" b="1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Inter"/>
                </a:rPr>
                <a:t>mm</a:t>
              </a:r>
              <a:endParaRPr lang="en-AU" sz="10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74894588-A005-9E4D-3BF1-903816089730}"/>
              </a:ext>
            </a:extLst>
          </p:cNvPr>
          <p:cNvGrpSpPr/>
          <p:nvPr/>
        </p:nvGrpSpPr>
        <p:grpSpPr>
          <a:xfrm>
            <a:off x="3718931" y="2297187"/>
            <a:ext cx="2207735" cy="451368"/>
            <a:chOff x="2018908" y="5175933"/>
            <a:chExt cx="2422954" cy="495369"/>
          </a:xfrm>
        </p:grpSpPr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1B7CC2CC-8724-C155-60E0-5147A658EC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80794"/>
            <a:stretch>
              <a:fillRect/>
            </a:stretch>
          </p:blipFill>
          <p:spPr>
            <a:xfrm>
              <a:off x="3430927" y="5175933"/>
              <a:ext cx="490341" cy="495369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655BA168-3ECD-CD71-D9DF-C150A27862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6973" r="1072"/>
            <a:stretch>
              <a:fillRect/>
            </a:stretch>
          </p:blipFill>
          <p:spPr>
            <a:xfrm>
              <a:off x="3881344" y="5175933"/>
              <a:ext cx="560518" cy="495369"/>
            </a:xfrm>
            <a:prstGeom prst="rect">
              <a:avLst/>
            </a:prstGeom>
          </p:spPr>
        </p:pic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8AE005A6-BBD8-F21A-FBD4-E00B86447CA3}"/>
                </a:ext>
              </a:extLst>
            </p:cNvPr>
            <p:cNvSpPr txBox="1"/>
            <p:nvPr/>
          </p:nvSpPr>
          <p:spPr>
            <a:xfrm>
              <a:off x="3523054" y="5285117"/>
              <a:ext cx="685750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en-AU" sz="1000" b="1" dirty="0"/>
                <a:t>10.6</a:t>
              </a:r>
              <a:endParaRPr lang="en-AU" sz="1200" b="1" dirty="0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1CB7CEED-88D0-0292-8DC5-42C4CF43BEA4}"/>
                </a:ext>
              </a:extLst>
            </p:cNvPr>
            <p:cNvSpPr txBox="1"/>
            <p:nvPr/>
          </p:nvSpPr>
          <p:spPr>
            <a:xfrm>
              <a:off x="2018908" y="5303402"/>
              <a:ext cx="435449" cy="246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AU" sz="1000" b="1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Inter"/>
                </a:rPr>
                <a:t>mil</a:t>
              </a:r>
              <a:endParaRPr lang="en-AU" sz="10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pic>
        <p:nvPicPr>
          <p:cNvPr id="98" name="Picture 2" descr="294,732 Icon Lock Button Royalty-Free Images, Stock Photos &amp; Pictures |  Shutterstock">
            <a:extLst>
              <a:ext uri="{FF2B5EF4-FFF2-40B4-BE49-F238E27FC236}">
                <a16:creationId xmlns:a16="http://schemas.microsoft.com/office/drawing/2014/main" id="{4EA11E7F-F0BD-8201-D056-AE4907356B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35" t="22502" r="29583" b="29994"/>
          <a:stretch>
            <a:fillRect/>
          </a:stretch>
        </p:blipFill>
        <p:spPr bwMode="auto">
          <a:xfrm>
            <a:off x="816877" y="3287534"/>
            <a:ext cx="299144" cy="368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6465605C-8DE0-07CE-BC0E-77E2FDBD7E30}"/>
              </a:ext>
            </a:extLst>
          </p:cNvPr>
          <p:cNvCxnSpPr>
            <a:cxnSpLocks/>
          </p:cNvCxnSpPr>
          <p:nvPr/>
        </p:nvCxnSpPr>
        <p:spPr>
          <a:xfrm>
            <a:off x="973881" y="2315390"/>
            <a:ext cx="2010045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D92B66BB-6ADA-F33C-7872-2A2FAA209608}"/>
              </a:ext>
            </a:extLst>
          </p:cNvPr>
          <p:cNvCxnSpPr>
            <a:cxnSpLocks/>
          </p:cNvCxnSpPr>
          <p:nvPr/>
        </p:nvCxnSpPr>
        <p:spPr>
          <a:xfrm>
            <a:off x="973881" y="4275282"/>
            <a:ext cx="2010045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DF62AC2E-6505-6A5C-1E56-9FB5FA622A7F}"/>
              </a:ext>
            </a:extLst>
          </p:cNvPr>
          <p:cNvSpPr txBox="1"/>
          <p:nvPr/>
        </p:nvSpPr>
        <p:spPr>
          <a:xfrm>
            <a:off x="4003626" y="1600716"/>
            <a:ext cx="6131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200" b="1" i="0" dirty="0">
                <a:solidFill>
                  <a:srgbClr val="26342F"/>
                </a:solidFill>
                <a:effectLst/>
                <a:latin typeface="Inter"/>
              </a:rPr>
              <a:t>Track:</a:t>
            </a:r>
            <a:endParaRPr lang="en-AU" sz="1200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E8C71437-7E64-41AC-7282-470D1E3E2092}"/>
              </a:ext>
            </a:extLst>
          </p:cNvPr>
          <p:cNvSpPr txBox="1"/>
          <p:nvPr/>
        </p:nvSpPr>
        <p:spPr>
          <a:xfrm>
            <a:off x="4992589" y="1597608"/>
            <a:ext cx="5300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200" b="1" i="0" dirty="0">
                <a:solidFill>
                  <a:srgbClr val="26342F"/>
                </a:solidFill>
                <a:effectLst/>
                <a:latin typeface="Inter"/>
              </a:rPr>
              <a:t>Gap:</a:t>
            </a:r>
            <a:endParaRPr lang="en-AU" sz="1200" dirty="0"/>
          </a:p>
        </p:txBody>
      </p:sp>
      <p:pic>
        <p:nvPicPr>
          <p:cNvPr id="106" name="Picture 2" descr="294,732 Icon Lock Button Royalty-Free Images, Stock Photos &amp; Pictures |  Shutterstock">
            <a:extLst>
              <a:ext uri="{FF2B5EF4-FFF2-40B4-BE49-F238E27FC236}">
                <a16:creationId xmlns:a16="http://schemas.microsoft.com/office/drawing/2014/main" id="{E4D32BA5-8F9A-83C6-F876-D87064DC2B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35" t="22502" r="29583" b="29994"/>
          <a:stretch>
            <a:fillRect/>
          </a:stretch>
        </p:blipFill>
        <p:spPr bwMode="auto">
          <a:xfrm>
            <a:off x="5728578" y="1609428"/>
            <a:ext cx="162986" cy="200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04040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31</Words>
  <Application>Microsoft Office PowerPoint</Application>
  <PresentationFormat>Widescreen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Inter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Marty Hauff</dc:creator>
  <cp:lastModifiedBy>Marty Hauff</cp:lastModifiedBy>
  <cp:revision>2</cp:revision>
  <dcterms:created xsi:type="dcterms:W3CDTF">2026-06-24T01:22:44Z</dcterms:created>
  <dcterms:modified xsi:type="dcterms:W3CDTF">2026-06-24T04:05:51Z</dcterms:modified>
</cp:coreProperties>
</file>